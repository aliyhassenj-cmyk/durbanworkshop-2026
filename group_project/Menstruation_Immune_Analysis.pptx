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53ca977194a68a77421cf08af5dfa8fbcb7d23e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745a5d6a8086d3c4fe6fa76285c11c6f307778de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b1143d63aea70886d6b88c8142ccf024122e7683.pn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Immune cell &amp; cytokine dynamics across the menstrual cycle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Effects of hormonal birth control and PCOS status on vaginal immune populations
Group B — Menstruation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Study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
• Longitudinal study: 27 female participants
• 4 time points across the menstrual cycle:
    week_prior → onset → end_bleeding → week_post
• 108 vaginal swab samples collected
• 14 use hormonal birth control / 13 do not
• ~50% have PCOS (polycystic ovary syndrome)
• Measurements:
    — Flow cytometry: immune cell populations
    — Luminex: 8 inflammatory cytokines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Immune cell counts — with p-values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457200" y="1371600"/>
          <a:ext cx="7315200" cy="3657600"/>
        </p:xfrm>
        <a:graphic>
          <a:graphicData uri="http://schemas.openxmlformats.org/drawingml/2006/table">
            <a:tbl>
              <a:tblPr/>
              <a:tblGrid>
                <a:gridCol w="1099532"/>
                <a:gridCol w="571326"/>
                <a:gridCol w="788700"/>
                <a:gridCol w="932311"/>
                <a:gridCol w="1110848"/>
                <a:gridCol w="827397"/>
                <a:gridCol w="912893"/>
                <a:gridCol w="1091430"/>
                <a:gridCol w="889563"/>
                <a:gridCol w="854638"/>
                <a:gridCol w="1033175"/>
                <a:gridCol w="749723"/>
              </a:tblGrid>
              <a:tr h="40513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Time point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BC 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No BC 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CD45+ BC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CD45+ NoBC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p (CD45)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Neutro BC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Neutro NoBC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p (Neutro)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CD8+ BC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CD8+ NoBC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p (CD8)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week_prior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81326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111288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0.079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63997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89226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0.172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2165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2058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0.845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onset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80880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90622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0.884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54903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64429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0.769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2759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2044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0.143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end_bleeding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66674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79748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0.479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46049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53358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0.903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2122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2536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0.164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week_post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70474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63564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1.000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60023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54292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1.000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1098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1634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0.087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Median counts (cells/sample). p-values: Wilcoxon test, BC vs No BC.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CD45+ immune cells — birth control effect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188720"/>
            <a:ext cx="4572000" cy="292608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5303520" y="1371600"/>
            <a:ext cx="3657600" cy="2743200"/>
          </a:xfrm>
        </p:spPr>
        <p:txBody>
          <a:bodyPr/>
          <a:lstStyle/>
          <a:p>
            <a:r>
              <a:rPr/>
              <a:t>
Key observation:
CD45+ counts tend to be lower in the
birth control group at onset, suggesting
hormonal contraception may dampen the
inflammatory spike at menstruation onset.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IL-1a cytokine — PCOS effect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188720"/>
            <a:ext cx="4572000" cy="292608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5303520" y="1371600"/>
            <a:ext cx="3657600" cy="2743200"/>
          </a:xfrm>
        </p:spPr>
        <p:txBody>
          <a:bodyPr/>
          <a:lstStyle/>
          <a:p>
            <a:r>
              <a:rPr/>
              <a:t>
Key observation:
IL-1a differs by PCOS status,
particularly at onset and end_bleeding,
suggesting altered inflammatory signalling
in PCOS.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Mixed-effects model results — with p-values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457200" y="1188720"/>
          <a:ext cx="5029200" cy="4114800"/>
        </p:xfrm>
        <a:graphic>
          <a:graphicData uri="http://schemas.openxmlformats.org/drawingml/2006/table">
            <a:tbl>
              <a:tblPr/>
              <a:tblGrid>
                <a:gridCol w="1448363"/>
                <a:gridCol w="1817450"/>
                <a:gridCol w="610303"/>
                <a:gridCol w="555680"/>
                <a:gridCol w="516983"/>
                <a:gridCol w="730724"/>
                <a:gridCol w="423803"/>
              </a:tblGrid>
              <a:tr h="40513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Outcome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Predictor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F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Num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Den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000" i="0" b="1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0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 row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log(CD45+)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Time point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1.67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0.180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0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 v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log(CD45+)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Birth control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0.71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0.406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0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 v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log(CD45+)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Time point × Birth control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0.881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0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 row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log(Neutrophils)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Time point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1.41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0.246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0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 v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log(Neutrophils)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Birth control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0.39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0.537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0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 v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log(Neutrophils)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Time point × Birth control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0.11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0.951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0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 row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log(IL-1a)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Time point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22.75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&lt; 0.001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***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 v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log(IL-1a)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Birth control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6.96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0.014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*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 v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log(IL-1a)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Time point × Birth control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0.800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0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 row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log(CD4/CD8 ratio)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Time point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9.57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&lt; 0.001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***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 v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log(CD4/CD8 ratio)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Birth control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0.07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0.797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0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5605">
                <a:tc v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log(CD4/CD8 ratio)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Time point × Birth control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0.76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0.519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0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5760720" y="1371600"/>
            <a:ext cx="3200400" cy="3657600"/>
          </a:xfrm>
        </p:spPr>
        <p:txBody>
          <a:bodyPr/>
          <a:lstStyle/>
          <a:p>
            <a:r>
              <a:rPr/>
              <a:t>
Key:
Green = significant (p &lt; 0.05)
Findings:
1. IL-1a: strong time effect (p &lt; 0.001)
         + arm effect (p = 0.014)
2. CD4/CD8: time effect (p &lt; 0.001)
3. CD45+: no significant effects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CD4/CD8 T cell ratio — combined effects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320040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4389120"/>
            <a:ext cx="6400800" cy="1097280"/>
          </a:xfrm>
        </p:spPr>
        <p:txBody>
          <a:bodyPr/>
          <a:lstStyle/>
          <a:p>
            <a:r>
              <a:rPr/>
              <a:t>
Dashed line = equal helper/cytotoxic T cells.
Ratio shifts across cycle and varies with
both birth control and PCOS status.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
1. IL-1a peaks at onset &amp; end_bleeding,
   and is lower in birth control users (p = 0.014).
   → Hormonal contraception dampens inflammatory cytokine release.
2. CD4/CD8 T cell ratio shifts across the cycle (p &lt; 0.001),
   but is not affected by birth control.
   → T cell subsets traffic differentially during menstruation.
3. CD45+ and neutrophils are stable across the cycle.
   → Innate cell numbers are less variable than cytokine signalling.
4. PCOS shows trends in cytokine profiles but not significant
   with n = 27.
5. Many cytokines (TNFa, IFNg, IL-6) were frequently below
   detection limits.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Limitations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
Limitations:
• Small sample (n = 27) — limited power for interactions
• Censored cytokine data reduces usable observations
• No data on birth control type (pill vs. IUD vs. implant)
• PCOS diagnosis method not specified
Next steps:
• Compare specific birth control types
• Use censored regression (tobit) models
• Include age / sexual activity as covariates
• Pathway analysis: cytokines × cell types
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rstudio</cp:lastModifiedBy>
  <cp:revision>3</cp:revision>
  <dcterms:created xsi:type="dcterms:W3CDTF">2017-02-13T16:18:36Z</dcterms:created>
  <dcterms:modified xsi:type="dcterms:W3CDTF">2026-06-04T12:59:39Z</dcterms:modified>
  <cp:category/>
</cp:coreProperties>
</file>